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77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16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969DA">
              <a:alpha val="12000"/>
            </a:srgbClr>
          </a:solidFill>
          <a:ln w="12700">
            <a:solidFill>
              <a:srgbClr val="0969D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560320" cy="2560320"/>
          </a:xfrm>
          <a:prstGeom prst="ellipse">
            <a:avLst/>
          </a:prstGeom>
          <a:solidFill>
            <a:srgbClr val="1A7F37">
              <a:alpha val="10000"/>
            </a:srgbClr>
          </a:solidFill>
          <a:ln w="12700">
            <a:solidFill>
              <a:srgbClr val="1A7F3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69DA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sort()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F37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114800" cy="2743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389376"/>
            <a:ext cx="3840480" cy="999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Sathish M                   -   24BTCE178</a:t>
            </a:r>
            <a:b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Prathyaksh BR           -   24BTCE165</a:t>
            </a:r>
          </a:p>
          <a:p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Abhiram Bhagath k  -   24BTCE110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City </a:t>
            </a:r>
            <a:r>
              <a:rPr lang="en-IN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this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5720" cy="182880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understanding of sorting algorithms is often abstract and hard to internalize without visual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45720" cy="182880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comparisons &amp; swaps
</a:t>
            </a:r>
            <a:r>
              <a:rPr lang="en-US" sz="13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 stacks
</a:t>
            </a:r>
            <a:r>
              <a:rPr lang="en-US" sz="13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movement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8321040" cy="1097280"/>
          </a:xfrm>
          <a:prstGeom prst="rect">
            <a:avLst/>
          </a:prstGeom>
          <a:solidFill>
            <a:srgbClr val="0969DA">
              <a:alpha val="12000"/>
            </a:srgbClr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step-by-step visual simulator to bridge the gap between theory and execution.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modular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5720" cy="17373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Input / Events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5720" cy="173736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896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sorting_algorithms.py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Sort Algorithms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5720" cy="1737360"/>
          </a:xfrm>
          <a:prstGeom prst="rect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with Tkinter Canvas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7889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5720" cy="17373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Generation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62272" y="1691640"/>
            <a:ext cx="182880" cy="0"/>
          </a:xfrm>
          <a:prstGeom prst="line">
            <a:avLst/>
          </a:prstGeom>
          <a:noFill/>
          <a:ln w="12700">
            <a:solidFill>
              <a:srgbClr val="656D7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462272" y="3657600"/>
            <a:ext cx="182880" cy="0"/>
          </a:xfrm>
          <a:prstGeom prst="line">
            <a:avLst/>
          </a:prstGeom>
          <a:noFill/>
          <a:ln w="12700">
            <a:solidFill>
              <a:srgbClr val="656D7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built with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23160" y="822960"/>
            <a:ext cx="2011680" cy="5486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2316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&amp; Canvas Toolkit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822960"/>
            <a:ext cx="2011680" cy="54864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🎲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8229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20840" y="822960"/>
            <a:ext cx="2011680" cy="54864"/>
          </a:xfrm>
          <a:prstGeom prst="rect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084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122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24231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Speed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Concept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mapping data → visuals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5720" cy="32004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50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Numerical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Array Value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Rectangle Height
</a:t>
            </a: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X-axis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Index of element
</a:t>
            </a: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Y-axis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Value of element
</a:t>
            </a: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[10, 45, 80] generates three bars of increasing height.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[ 10,  45,  80 ]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394710"/>
            <a:ext cx="731520" cy="262890"/>
          </a:xfrm>
          <a:prstGeom prst="rect">
            <a:avLst/>
          </a:prstGeom>
          <a:solidFill>
            <a:srgbClr val="0969D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12039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474595"/>
            <a:ext cx="731520" cy="1183005"/>
          </a:xfrm>
          <a:prstGeom prst="rect">
            <a:avLst/>
          </a:prstGeom>
          <a:solidFill>
            <a:srgbClr val="9A670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2200275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1554480"/>
            <a:ext cx="731520" cy="2103120"/>
          </a:xfrm>
          <a:prstGeom prst="rect">
            <a:avLst/>
          </a:prstGeom>
          <a:solidFill>
            <a:srgbClr val="1A7F3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2376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3657600" cy="0"/>
          </a:xfrm>
          <a:prstGeom prst="line">
            <a:avLst/>
          </a:prstGeom>
          <a:noFill/>
          <a:ln w="12700">
            <a:solidFill>
              <a:srgbClr val="656D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— Random Data Generator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helper 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21031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4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generate_array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(size, min_val, max_val):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[random.randint(min_val, max_val) </a:t>
            </a: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4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</a:t>
            </a: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range(size)]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5720" cy="13716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Logic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creates the array in a single, efficient expression — avoiding explicit loops. This keeps the code concise and Pythonic.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visualizer.py — Graphics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render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5720" cy="18288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50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868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Canvas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3840480" cy="45720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canvas.delete('all')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ghosting from prior 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5720" cy="18288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850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868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(value / max) * canvas_h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928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value to pixel height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5720" cy="18288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8620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3840480" cy="45720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canvas.create_rectangle(x0,y0,x1,y1)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04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each bar on the canvas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2788920"/>
            <a:ext cx="45720" cy="18288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28620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Update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3840480" cy="45720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canvas.update()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04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current frame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visualization loop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must be modified for visualization — each iteration drives a visual frame: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4864" cy="749808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475488" cy="47548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399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709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iteration of sort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54864" cy="749808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2350008"/>
            <a:ext cx="475488" cy="475488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350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59689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draw_data() with specific colors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099816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099816"/>
            <a:ext cx="54864" cy="749808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236976"/>
            <a:ext cx="475488" cy="475488"/>
          </a:xfrm>
          <a:prstGeom prst="ellipse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172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483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_pause() to make the step visible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54864" cy="749808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" y="4123944"/>
            <a:ext cx="475488" cy="475488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059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3708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stop_flag to allow user interruption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Execution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synchronization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5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_pause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(time_tick, stop_flag):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</a:t>
            </a:r>
            <a:r>
              <a:rPr lang="en-US" sz="15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(time_tick)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5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stop_flag()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2724912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2724912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3310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 Sleep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372160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execution for time_tick seconds, giving the user time to observe the current state.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72968" y="3246120"/>
            <a:ext cx="2724912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172968" y="3246120"/>
            <a:ext cx="2724912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82696" y="3310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 Flag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82696" y="372160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stop_flag value — if True, the algorithm halts gracefully from any 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25896" y="3246120"/>
            <a:ext cx="2724912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25896" y="3246120"/>
            <a:ext cx="2724912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35624" y="3310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Synchronize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35624" y="372160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backend sort logic with frontend frame rendering for smooth step-by-step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visual language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1371600" cy="914400"/>
          </a:xfrm>
          <a:prstGeom prst="rect">
            <a:avLst/>
          </a:prstGeom>
          <a:solidFill>
            <a:srgbClr val="448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20240" y="868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2984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Unsorted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1097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#4488FF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850392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1371600" cy="91440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20240" y="1892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23225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Progress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121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#E3B341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1371600" cy="91440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0240" y="291693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33467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Elements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3145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#F78166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895344"/>
            <a:ext cx="850392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1371600" cy="9144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920240" y="3941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0240" y="4370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/ Correct Position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41696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#3FB950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Visualization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O(n²)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5720" cy="38404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850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Logic: </a:t>
            </a: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Repeatedly swap adjacent elements if out of order.
</a:t>
            </a:r>
            <a:r>
              <a:rPr lang="en-US" sz="13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Complexity
</a:t>
            </a: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Best:  </a:t>
            </a:r>
            <a:r>
              <a:rPr lang="en-US" sz="13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
</a:t>
            </a: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Avg:   </a:t>
            </a:r>
            <a:r>
              <a:rPr lang="en-US" sz="1300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
</a:t>
            </a:r>
            <a:r>
              <a:rPr lang="en-US" sz="13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Worst: </a:t>
            </a:r>
            <a:r>
              <a:rPr lang="en-US" sz="13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
</a:t>
            </a:r>
            <a:r>
              <a:rPr lang="en-US" sz="13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</a:t>
            </a:r>
            <a:r>
              <a:rPr lang="en-US" sz="13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— In-Place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384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Focus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377440"/>
            <a:ext cx="475488" cy="1920240"/>
          </a:xfrm>
          <a:prstGeom prst="rect">
            <a:avLst/>
          </a:prstGeom>
          <a:solidFill>
            <a:srgbClr val="448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212140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3337560"/>
            <a:ext cx="475488" cy="960120"/>
          </a:xfrm>
          <a:prstGeom prst="rect">
            <a:avLst/>
          </a:prstGeom>
          <a:solidFill>
            <a:srgbClr val="448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49240" y="308152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737360"/>
            <a:ext cx="475488" cy="2560320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97880" y="148132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697480"/>
            <a:ext cx="475488" cy="160020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6520" y="244144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3657600"/>
            <a:ext cx="475488" cy="640080"/>
          </a:xfrm>
          <a:prstGeom prst="rect">
            <a:avLst/>
          </a:prstGeom>
          <a:solidFill>
            <a:srgbClr val="448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95160" y="340156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43800" y="2057400"/>
            <a:ext cx="475488" cy="22402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543800" y="180136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297680"/>
            <a:ext cx="3749040" cy="0"/>
          </a:xfrm>
          <a:prstGeom prst="line">
            <a:avLst/>
          </a:prstGeom>
          <a:noFill/>
          <a:ln w="12700">
            <a:solidFill>
              <a:srgbClr val="656D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44074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Comparison (j vs j+1)
</a:t>
            </a:r>
            <a:r>
              <a:rPr lang="en-US" sz="11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Swap in progress
</a:t>
            </a: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Sorted position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The Controller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GUI lifecycle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GUI lifecycle and event handling via dynamic function mapping: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</a:t>
            </a:r>
            <a:r>
              <a:rPr lang="en-US" sz="13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300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'Bubble Sort'</a:t>
            </a:r>
            <a:r>
              <a:rPr lang="en-US" sz="13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bubble_sort,
</a:t>
            </a:r>
            <a:r>
              <a:rPr lang="en-US" sz="1300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'Merge Sort'</a:t>
            </a:r>
            <a:r>
              <a:rPr lang="en-US" sz="13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merge_sort,  ...
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Function Mapping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User selects algorithm from dropdown — key string is captured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Dictionary lookup retrieves the correct function reference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416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Function is called dynamically — no if/elif chain needed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Array Input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interaction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r>
              <a:rPr lang="en-US" sz="15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5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</a:t>
            </a: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raw_input.</a:t>
            </a:r>
            <a:r>
              <a:rPr lang="en-US" sz="15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(',')]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2743200" cy="5486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88920"/>
            <a:ext cx="640080" cy="64008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.split(",")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270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raw string by commas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5176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51960" y="2788920"/>
            <a:ext cx="640080" cy="640080"/>
          </a:xfrm>
          <a:prstGeom prst="ellipse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519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270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surrounding whitespace from each token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65176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80760" y="2651760"/>
            <a:ext cx="2743200" cy="54864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32320" y="2788920"/>
            <a:ext cx="640080" cy="64008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722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int(v)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270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token to integer value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Guarding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safety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</a:t>
            </a:r>
            <a:r>
              <a:rPr lang="en-US" sz="17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btn_start.</a:t>
            </a:r>
            <a:r>
              <a:rPr lang="en-US" sz="17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(state=</a:t>
            </a:r>
            <a:r>
              <a:rPr lang="en-US" sz="17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.DISABLED)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disable buttons during sorting?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274320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2743200" cy="54864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Multi-threading Conflicts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GIL + Tkinter are single-threaded. Re-triggering sort mid-run corrupts state.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274320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Race Conditions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sort calls would fight over the same array reference, causing undefined behavior.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651760"/>
            <a:ext cx="274320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80760" y="2651760"/>
            <a:ext cx="2743200" cy="54864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8076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Index Errors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array is regenerated mid-sort, index bounds can change — leading to crashes.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benchmarking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828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88696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8869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time.</a:t>
            </a:r>
            <a:r>
              <a:rPr lang="en-US" sz="14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perf_counter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run sort 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9476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time.</a:t>
            </a:r>
            <a:r>
              <a:rPr lang="en-US" sz="14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perf_counter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t0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743200" cy="5486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907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1148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977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perf_counter() uses the OS's highest-resolution timer — typically sub-microsecond accuracy.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7889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2907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29184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977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affected by system clock changes. Always increases — perfect for duration measurement.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7889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2743200" cy="5486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80760" y="2907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7220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Durations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977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measures microsecond-level algorithm steps that time.time() would miss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Viva Insights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takeaways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685800"/>
          </a:xfrm>
          <a:prstGeom prst="rect">
            <a:avLst/>
          </a:prstGeom>
          <a:solidFill>
            <a:srgbClr val="1A7F37">
              <a:alpha val="15000"/>
            </a:srgbClr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Visual learning improves retention of complex algorithmic logic — theory becomes intuition.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Reference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2514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9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1082</Words>
  <Application>Microsoft Office PowerPoint</Application>
  <PresentationFormat>On-screen Show (16:9)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 Visualizer</dc:title>
  <dc:subject>PptxGenJS Presentation</dc:subject>
  <dc:creator>PptxGenJS</dc:creator>
  <cp:lastModifiedBy>Abhiram Bhagath K</cp:lastModifiedBy>
  <cp:revision>3</cp:revision>
  <dcterms:created xsi:type="dcterms:W3CDTF">2026-03-10T02:47:45Z</dcterms:created>
  <dcterms:modified xsi:type="dcterms:W3CDTF">2026-03-10T03:08:18Z</dcterms:modified>
</cp:coreProperties>
</file>